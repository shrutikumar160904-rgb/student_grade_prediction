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C3E50"/>
                </a:solidFill>
                <a:latin typeface="Arial"/>
              </a:defRPr>
            </a:pPr>
            <a:r>
              <a:rPr lang="en-IN" sz="1400" b="0" i="0" u="none" strike="noStrike">
                <a:solidFill>
                  <a:srgbClr val="2C3E50"/>
                </a:solidFill>
                <a:latin typeface="Arial"/>
              </a:rPr>
              <a:t>Grade Distribution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0-5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Students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819-42FE-B75F-75019B17A7D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6-10</c:v>
                </c:pt>
              </c:strCache>
            </c:strRef>
          </c:tx>
          <c:spPr>
            <a:solidFill>
              <a:srgbClr val="F39C12"/>
            </a:solidFill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Students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819-42FE-B75F-75019B17A7D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11-15</c:v>
                </c:pt>
              </c:strCache>
            </c:strRef>
          </c:tx>
          <c:spPr>
            <a:solidFill>
              <a:srgbClr val="3498DB"/>
            </a:solidFill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Students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165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819-42FE-B75F-75019B17A7D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16-20</c:v>
                </c:pt>
              </c:strCache>
            </c:strRef>
          </c:tx>
          <c:spPr>
            <a:solidFill>
              <a:srgbClr val="2ECC71"/>
            </a:solidFill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Students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819-42FE-B75F-75019B17A7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C3E50"/>
                </a:solidFill>
                <a:latin typeface="Arial"/>
              </a:defRPr>
            </a:pPr>
            <a:r>
              <a:rPr lang="en-IN" sz="1400" b="0" i="0" u="none" strike="noStrike">
                <a:solidFill>
                  <a:srgbClr val="2C3E50"/>
                </a:solidFill>
                <a:latin typeface="Arial"/>
              </a:rPr>
              <a:t>Model Performance (R² Score)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Linear Reg</c:v>
                </c:pt>
              </c:strCache>
            </c:strRef>
          </c:tx>
          <c:spPr>
            <a:solidFill>
              <a:srgbClr val="667EEA"/>
            </a:solidFill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R² Score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0.78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939-4459-8165-700F0CEC028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Ridge</c:v>
                </c:pt>
              </c:strCache>
            </c:strRef>
          </c:tx>
          <c:spPr>
            <a:solidFill>
              <a:srgbClr val="667EEA"/>
            </a:solidFill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R² Score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0.79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939-4459-8165-700F0CEC028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Lasso</c:v>
                </c:pt>
              </c:strCache>
            </c:strRef>
          </c:tx>
          <c:spPr>
            <a:solidFill>
              <a:srgbClr val="667EEA"/>
            </a:solidFill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R² Score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0.77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939-4459-8165-700F0CEC028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667EEA"/>
            </a:solidFill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R² Score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0.86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939-4459-8165-700F0CEC0286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Gradient Boost</c:v>
                </c:pt>
              </c:strCache>
            </c:strRef>
          </c:tx>
          <c:spPr>
            <a:solidFill>
              <a:srgbClr val="667EEA"/>
            </a:solidFill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R² Score</c:v>
                </c:pt>
              </c:strCache>
            </c:strRef>
          </c:cat>
          <c:val>
            <c:numRef>
              <c:f>Sheet1!$F$2:$F$2</c:f>
              <c:numCache>
                <c:formatCode>General</c:formatCode>
                <c:ptCount val="1"/>
                <c:pt idx="0">
                  <c:v>0.84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939-4459-8165-700F0CEC0286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SVR</c:v>
                </c:pt>
              </c:strCache>
            </c:strRef>
          </c:tx>
          <c:spPr>
            <a:solidFill>
              <a:srgbClr val="667EEA"/>
            </a:solidFill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R² Score</c:v>
                </c:pt>
              </c:strCache>
            </c:strRef>
          </c:cat>
          <c:val>
            <c:numRef>
              <c:f>Sheet1!$G$2:$G$2</c:f>
              <c:numCache>
                <c:formatCode>General</c:formatCode>
                <c:ptCount val="1"/>
                <c:pt idx="0">
                  <c:v>0.81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939-4459-8165-700F0CEC02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C3E50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2C3E50"/>
                </a:solidFill>
                <a:latin typeface="Arial"/>
              </a:rPr>
              <a:t>Top 5 Influential Features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Past Failures</c:v>
                </c:pt>
              </c:strCache>
            </c:strRef>
          </c:tx>
          <c:spPr>
            <a:solidFill>
              <a:srgbClr val="764BA2"/>
            </a:solidFill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Importance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0.28000000000000003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5D3-42F8-987D-32A9D203063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Study Time</c:v>
                </c:pt>
              </c:strCache>
            </c:strRef>
          </c:tx>
          <c:spPr>
            <a:solidFill>
              <a:srgbClr val="764BA2"/>
            </a:solidFill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Importance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5D3-42F8-987D-32A9D203063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Absences</c:v>
                </c:pt>
              </c:strCache>
            </c:strRef>
          </c:tx>
          <c:spPr>
            <a:solidFill>
              <a:srgbClr val="764BA2"/>
            </a:solidFill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Importance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5D3-42F8-987D-32A9D203063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Family Support</c:v>
                </c:pt>
              </c:strCache>
            </c:strRef>
          </c:tx>
          <c:spPr>
            <a:solidFill>
              <a:srgbClr val="764BA2"/>
            </a:solidFill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Importance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0.15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5D3-42F8-987D-32A9D203063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Extra Support</c:v>
                </c:pt>
              </c:strCache>
            </c:strRef>
          </c:tx>
          <c:spPr>
            <a:solidFill>
              <a:srgbClr val="764BA2"/>
            </a:solidFill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Importance</c:v>
                </c:pt>
              </c:strCache>
            </c:strRef>
          </c:cat>
          <c:val>
            <c:numRef>
              <c:f>Sheet1!$F$2:$F$2</c:f>
              <c:numCache>
                <c:formatCode>General</c:formatCode>
                <c:ptCount val="1"/>
                <c:pt idx="0">
                  <c:v>0.12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5D3-42F8-987D-32A9D20306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3593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24504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</a:rPr>
              <a:t>🎓 Student Grade Prediction System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2083982" y="41254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</a:rPr>
              <a:t>Using Machine Learning for Educational Success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083982" y="48569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F0F0F0"/>
                </a:solidFill>
              </a:rPr>
              <a:t>Predicting Student Performance with AI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u="sng" dirty="0">
                <a:solidFill>
                  <a:srgbClr val="2C3E50"/>
                </a:solidFill>
              </a:rPr>
              <a:t>Problem Statement &amp; Objectives</a:t>
            </a:r>
            <a:endParaRPr lang="en-US" sz="4000" u="sng" dirty="0"/>
          </a:p>
        </p:txBody>
      </p:sp>
      <p:sp>
        <p:nvSpPr>
          <p:cNvPr id="3" name="Shape 1"/>
          <p:cNvSpPr/>
          <p:nvPr/>
        </p:nvSpPr>
        <p:spPr>
          <a:xfrm>
            <a:off x="797448" y="1371599"/>
            <a:ext cx="4545065" cy="2560321"/>
          </a:xfrm>
          <a:prstGeom prst="rect">
            <a:avLst/>
          </a:prstGeom>
          <a:solidFill>
            <a:srgbClr val="FFE5E5"/>
          </a:solidFill>
          <a:ln/>
        </p:spPr>
      </p:sp>
      <p:sp>
        <p:nvSpPr>
          <p:cNvPr id="4" name="Text 2"/>
          <p:cNvSpPr/>
          <p:nvPr/>
        </p:nvSpPr>
        <p:spPr>
          <a:xfrm>
            <a:off x="980329" y="1554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0392B"/>
                </a:solidFill>
              </a:rPr>
              <a:t>❌ CHALLENGES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80329" y="2103120"/>
            <a:ext cx="4362184" cy="1735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2C3E50"/>
                </a:solidFill>
              </a:rPr>
              <a:t>• High student failure rates</a:t>
            </a:r>
            <a:endParaRPr lang="en-US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2C3E50"/>
                </a:solidFill>
              </a:rPr>
              <a:t>• Late identification of at-risk students</a:t>
            </a:r>
            <a:endParaRPr lang="en-US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2C3E50"/>
                </a:solidFill>
              </a:rPr>
              <a:t>• Lack of early intervention systems</a:t>
            </a:r>
            <a:endParaRPr lang="en-US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2C3E50"/>
                </a:solidFill>
              </a:rPr>
              <a:t>• Limited resources for support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36249" y="1417319"/>
            <a:ext cx="5025656" cy="2560321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7" name="Text 5"/>
          <p:cNvSpPr/>
          <p:nvPr/>
        </p:nvSpPr>
        <p:spPr>
          <a:xfrm>
            <a:off x="6596446" y="1584251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7AE60"/>
                </a:solidFill>
              </a:rPr>
              <a:t>✅ OBJECTIVES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596446" y="2223271"/>
            <a:ext cx="4774019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2C3E50"/>
                </a:solidFill>
              </a:rPr>
              <a:t>• Predict final grades accurately</a:t>
            </a:r>
            <a:endParaRPr lang="en-US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2C3E50"/>
                </a:solidFill>
              </a:rPr>
              <a:t>• Identify at-risk students early</a:t>
            </a:r>
            <a:endParaRPr lang="en-US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2C3E50"/>
                </a:solidFill>
              </a:rPr>
              <a:t>• Enable timely interventions</a:t>
            </a:r>
            <a:endParaRPr lang="en-US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2C3E50"/>
                </a:solidFill>
              </a:rPr>
              <a:t>• Improve overall success rates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29343" y="4237074"/>
            <a:ext cx="2940966" cy="2073348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10" name="Text 8"/>
          <p:cNvSpPr/>
          <p:nvPr/>
        </p:nvSpPr>
        <p:spPr>
          <a:xfrm>
            <a:off x="829343" y="4419954"/>
            <a:ext cx="2940966" cy="5759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👥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29343" y="4968594"/>
            <a:ext cx="2940966" cy="460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395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829339" y="5486401"/>
            <a:ext cx="2940966" cy="3455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Students Analyzed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490663" y="4266845"/>
            <a:ext cx="2940966" cy="2073349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14" name="Text 12"/>
          <p:cNvSpPr/>
          <p:nvPr/>
        </p:nvSpPr>
        <p:spPr>
          <a:xfrm>
            <a:off x="4490663" y="4449726"/>
            <a:ext cx="2940967" cy="5759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490663" y="4998365"/>
            <a:ext cx="2940968" cy="4607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30+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490663" y="5455565"/>
            <a:ext cx="2940970" cy="3455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Features Used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151987" y="4237074"/>
            <a:ext cx="2940966" cy="2073349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18" name="Text 16"/>
          <p:cNvSpPr/>
          <p:nvPr/>
        </p:nvSpPr>
        <p:spPr>
          <a:xfrm>
            <a:off x="8151987" y="4419955"/>
            <a:ext cx="2940966" cy="5759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151987" y="4968595"/>
            <a:ext cx="2940966" cy="460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85%+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151987" y="5425795"/>
            <a:ext cx="2940966" cy="3455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Accuracy Achieved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91811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u="sng" dirty="0">
                <a:solidFill>
                  <a:srgbClr val="2C3E50"/>
                </a:solidFill>
              </a:rPr>
              <a:t>Dataset Overview &amp; Statistics</a:t>
            </a:r>
            <a:endParaRPr lang="en-US" sz="4000" u="sng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45729234"/>
              </p:ext>
            </p:extLst>
          </p:nvPr>
        </p:nvGraphicFramePr>
        <p:xfrm>
          <a:off x="457200" y="1371600"/>
          <a:ext cx="5901070" cy="30834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7111765" y="1246137"/>
            <a:ext cx="4307601" cy="3410923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Text 2"/>
          <p:cNvSpPr/>
          <p:nvPr/>
        </p:nvSpPr>
        <p:spPr>
          <a:xfrm>
            <a:off x="7751845" y="89313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3E50"/>
                </a:solidFill>
              </a:rPr>
              <a:t>📋 Key Features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603344" y="2198814"/>
            <a:ext cx="4114798" cy="13939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2C3E50"/>
                </a:solidFill>
              </a:rPr>
              <a:t>• Study Time (weekly hours)</a:t>
            </a:r>
            <a:endParaRPr 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2C3E50"/>
                </a:solidFill>
              </a:rPr>
              <a:t>• Past Failures</a:t>
            </a:r>
            <a:endParaRPr 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2C3E50"/>
                </a:solidFill>
              </a:rPr>
              <a:t>• School Absences</a:t>
            </a:r>
            <a:endParaRPr 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2C3E50"/>
                </a:solidFill>
              </a:rPr>
              <a:t>• Family Support</a:t>
            </a:r>
            <a:endParaRPr 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2C3E50"/>
                </a:solidFill>
              </a:rPr>
              <a:t>• Extra Educational Support</a:t>
            </a:r>
            <a:endParaRPr 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2C3E50"/>
                </a:solidFill>
              </a:rPr>
              <a:t>• Internet Access at Home</a:t>
            </a:r>
            <a:endParaRPr 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2C3E50"/>
                </a:solidFill>
              </a:rPr>
              <a:t>• Going Out with Friends</a:t>
            </a:r>
            <a:endParaRPr 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2C3E50"/>
                </a:solidFill>
              </a:rPr>
              <a:t>• Health Status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640080" y="5029200"/>
            <a:ext cx="10439046" cy="1161074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8" name="Text 5"/>
          <p:cNvSpPr/>
          <p:nvPr/>
        </p:nvSpPr>
        <p:spPr>
          <a:xfrm>
            <a:off x="872059" y="5141251"/>
            <a:ext cx="9975088" cy="842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</a:rPr>
              <a:t>Dataset: Student Performance in Mathematics (UCI Repository) | 395 students | 33 attributes | Portuguese schools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u="sng" dirty="0">
                <a:solidFill>
                  <a:srgbClr val="2C3E50"/>
                </a:solidFill>
              </a:rPr>
              <a:t>Machine Learning Models &amp; Performance</a:t>
            </a:r>
            <a:endParaRPr lang="en-US" sz="3600" u="sng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3927172600"/>
              </p:ext>
            </p:extLst>
          </p:nvPr>
        </p:nvGraphicFramePr>
        <p:xfrm>
          <a:off x="457199" y="1371600"/>
          <a:ext cx="52142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5879401" y="1388612"/>
            <a:ext cx="5286508" cy="192024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5" name="Text 2"/>
          <p:cNvSpPr/>
          <p:nvPr/>
        </p:nvSpPr>
        <p:spPr>
          <a:xfrm>
            <a:off x="5879401" y="1571492"/>
            <a:ext cx="52865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🏆 BEST MODEL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879401" y="2081429"/>
            <a:ext cx="52865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Random Forest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5879401" y="2741924"/>
            <a:ext cx="52865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R² Score: 0.86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879401" y="3818789"/>
            <a:ext cx="5286508" cy="2747879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9" name="Text 6"/>
          <p:cNvSpPr/>
          <p:nvPr/>
        </p:nvSpPr>
        <p:spPr>
          <a:xfrm>
            <a:off x="6373160" y="3977284"/>
            <a:ext cx="5000751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3E50"/>
                </a:solidFill>
              </a:rPr>
              <a:t>📊 Performance Metrics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7393880" y="4667456"/>
            <a:ext cx="5000751" cy="142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2C3E50"/>
                </a:solidFill>
              </a:rPr>
              <a:t>RMSE: 2.15 points</a:t>
            </a:r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2C3E50"/>
                </a:solidFill>
              </a:rPr>
              <a:t>MAE: 1.68 points</a:t>
            </a:r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2C3E50"/>
                </a:solidFill>
              </a:rPr>
              <a:t>Accuracy: 86%</a:t>
            </a:r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2C3E50"/>
                </a:solidFill>
              </a:rPr>
              <a:t>Cross-validation: 5-fold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65814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u="sng" dirty="0">
                <a:solidFill>
                  <a:srgbClr val="2C3E50"/>
                </a:solidFill>
              </a:rPr>
              <a:t>System Architecture &amp; Working Principle</a:t>
            </a:r>
            <a:endParaRPr lang="en-US" sz="4000" u="sng" dirty="0"/>
          </a:p>
        </p:txBody>
      </p:sp>
      <p:sp>
        <p:nvSpPr>
          <p:cNvPr id="3" name="Shape 1"/>
          <p:cNvSpPr/>
          <p:nvPr/>
        </p:nvSpPr>
        <p:spPr>
          <a:xfrm>
            <a:off x="480325" y="1464102"/>
            <a:ext cx="1765004" cy="1351397"/>
          </a:xfrm>
          <a:prstGeom prst="rect">
            <a:avLst/>
          </a:prstGeom>
          <a:solidFill>
            <a:srgbClr val="E3F2FD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0325" y="1646982"/>
            <a:ext cx="1765004" cy="9009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C3E50"/>
                </a:solidFill>
              </a:rPr>
              <a:t>📁 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2C3E50"/>
                </a:solidFill>
              </a:rPr>
              <a:t>Data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2C3E50"/>
                </a:solidFill>
              </a:rPr>
              <a:t>Collection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340357" y="1993073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7EEA"/>
                </a:solidFill>
              </a:rPr>
              <a:t>→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33495" y="1464102"/>
            <a:ext cx="1765005" cy="1351397"/>
          </a:xfrm>
          <a:prstGeom prst="rect">
            <a:avLst/>
          </a:prstGeom>
          <a:solidFill>
            <a:srgbClr val="FFF3E0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33495" y="1646982"/>
            <a:ext cx="1765005" cy="9009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C3E50"/>
                </a:solidFill>
              </a:rPr>
              <a:t>🔧 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2C3E50"/>
                </a:solidFill>
              </a:rPr>
              <a:t>Data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2C3E50"/>
                </a:solidFill>
              </a:rPr>
              <a:t>Preprocessing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93528" y="1993073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7EEA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986667" y="1423168"/>
            <a:ext cx="1765005" cy="1351398"/>
          </a:xfrm>
          <a:prstGeom prst="rect">
            <a:avLst/>
          </a:prstGeom>
          <a:solidFill>
            <a:srgbClr val="F3E5F5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6667" y="1606048"/>
            <a:ext cx="1765005" cy="9009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C3E50"/>
                </a:solidFill>
              </a:rPr>
              <a:t>⚙️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2C3E50"/>
                </a:solidFill>
              </a:rPr>
              <a:t> Feature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2C3E50"/>
                </a:solidFill>
              </a:rPr>
              <a:t>Engineering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838327" y="191935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7EEA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156225" y="1961707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7EEA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622463" y="1423168"/>
            <a:ext cx="1765005" cy="1351398"/>
          </a:xfrm>
          <a:prstGeom prst="rect">
            <a:avLst/>
          </a:prstGeom>
          <a:solidFill>
            <a:srgbClr val="FFEBEE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22463" y="1606048"/>
            <a:ext cx="1765005" cy="9009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C3E50"/>
                </a:solidFill>
              </a:rPr>
              <a:t>📊 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2C3E50"/>
                </a:solidFill>
              </a:rPr>
              <a:t>Prediction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2C3E50"/>
                </a:solidFill>
              </a:rPr>
              <a:t>Evaluation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57199" y="3200400"/>
            <a:ext cx="10951535" cy="3423684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8" name="Text 16"/>
          <p:cNvSpPr/>
          <p:nvPr/>
        </p:nvSpPr>
        <p:spPr>
          <a:xfrm>
            <a:off x="640080" y="33832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667EEA"/>
                </a:solidFill>
              </a:rPr>
              <a:t>🔍 Process Details: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1151505" y="3860682"/>
            <a:ext cx="9714969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2C3E50"/>
                </a:solidFill>
              </a:rPr>
              <a:t>1️⃣ Data Collection: Gather student demographic, social, and academic information</a:t>
            </a:r>
            <a:endParaRPr lang="en-US" sz="2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2C3E50"/>
                </a:solidFill>
              </a:rPr>
              <a:t>2️⃣ Preprocessing: Clean data, handle missing values, encode categorical variables</a:t>
            </a:r>
            <a:endParaRPr lang="en-US" sz="2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2C3E50"/>
                </a:solidFill>
              </a:rPr>
              <a:t>3️⃣ Feature Engineering: Select relevant features, scale numerical values</a:t>
            </a:r>
            <a:endParaRPr lang="en-US" sz="2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2C3E50"/>
                </a:solidFill>
              </a:rPr>
              <a:t>4️⃣ Model Training: Train multiple ML algorithms, perform cross-validation</a:t>
            </a:r>
            <a:endParaRPr lang="en-US" sz="2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2C3E50"/>
                </a:solidFill>
              </a:rPr>
              <a:t>5️⃣ Prediction: Generate grade predictions and identify at-risk students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7304565" y="1391802"/>
            <a:ext cx="1765005" cy="1351398"/>
          </a:xfrm>
          <a:prstGeom prst="rect">
            <a:avLst/>
          </a:prstGeom>
          <a:solidFill>
            <a:srgbClr val="E8F5E9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04565" y="1627847"/>
            <a:ext cx="1765005" cy="9009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C3E50"/>
                </a:solidFill>
              </a:rPr>
              <a:t>🤖 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2C3E50"/>
                </a:solidFill>
              </a:rPr>
              <a:t>Model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2C3E50"/>
                </a:solidFill>
              </a:rPr>
              <a:t>Training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u="sng" dirty="0">
                <a:solidFill>
                  <a:srgbClr val="2C3E50"/>
                </a:solidFill>
              </a:rPr>
              <a:t>Key Insights &amp; Applications</a:t>
            </a:r>
            <a:endParaRPr lang="en-US" sz="4000" u="sng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3939680199"/>
              </p:ext>
            </p:extLst>
          </p:nvPr>
        </p:nvGraphicFramePr>
        <p:xfrm>
          <a:off x="457199" y="1371599"/>
          <a:ext cx="5447869" cy="31089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6178579" y="1143000"/>
            <a:ext cx="5743708" cy="3108960"/>
          </a:xfrm>
          <a:prstGeom prst="rect">
            <a:avLst/>
          </a:prstGeom>
          <a:solidFill>
            <a:srgbClr val="FFF9C4"/>
          </a:solidFill>
          <a:ln/>
        </p:spPr>
      </p:sp>
      <p:sp>
        <p:nvSpPr>
          <p:cNvPr id="5" name="Text 2"/>
          <p:cNvSpPr/>
          <p:nvPr/>
        </p:nvSpPr>
        <p:spPr>
          <a:xfrm>
            <a:off x="6610262" y="1258170"/>
            <a:ext cx="5470198" cy="4974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50"/>
                </a:solidFill>
              </a:rPr>
              <a:t>🎯 Student Risk Assessment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178579" y="1892764"/>
            <a:ext cx="5470198" cy="21140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2C3E50"/>
                </a:solidFill>
              </a:rPr>
              <a:t>🔴 HIGH RISK (Grade &lt; 10)</a:t>
            </a:r>
            <a:endParaRPr 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2C3E50"/>
                </a:solidFill>
              </a:rPr>
              <a:t>   → Immediate intervention needed</a:t>
            </a:r>
            <a:endParaRPr 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2C3E50"/>
                </a:solidFill>
              </a:rPr>
              <a:t>🟡 MODERATE RISK (10-12)</a:t>
            </a:r>
            <a:endParaRPr 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2C3E50"/>
                </a:solidFill>
              </a:rPr>
              <a:t>   → Extra support recommended</a:t>
            </a:r>
            <a:endParaRPr 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2C3E50"/>
                </a:solidFill>
              </a:rPr>
              <a:t>🟢 LOW RISK (&gt; 12)</a:t>
            </a:r>
            <a:endParaRPr 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2C3E50"/>
                </a:solidFill>
              </a:rPr>
              <a:t>   → Continue current approach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361506" y="4846320"/>
            <a:ext cx="11380027" cy="182880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8" name="Text 5"/>
          <p:cNvSpPr/>
          <p:nvPr/>
        </p:nvSpPr>
        <p:spPr>
          <a:xfrm>
            <a:off x="544387" y="5029200"/>
            <a:ext cx="10874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💡 Real-World Applications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544387" y="5486400"/>
            <a:ext cx="1087424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✓ Early Warning System: Identify struggling students before they fail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✓ Resource Allocation: Direct tutoring and support to those who need it most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✓ Personalized Learning: Customize interventions based on individual risk factors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✓ Policy Making: Inform educational policies with data-driven insights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367</Words>
  <Application>Microsoft Office PowerPoint</Application>
  <PresentationFormat>Widescreen</PresentationFormat>
  <Paragraphs>91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Grade Prediction using Machine Learning</dc:title>
  <dc:subject>Educational Data Analysis</dc:subject>
  <dc:creator>Student Grade Prediction System</dc:creator>
  <cp:lastModifiedBy>Sayan Pal</cp:lastModifiedBy>
  <cp:revision>4</cp:revision>
  <dcterms:created xsi:type="dcterms:W3CDTF">2025-11-15T07:33:03Z</dcterms:created>
  <dcterms:modified xsi:type="dcterms:W3CDTF">2025-11-15T17:12:58Z</dcterms:modified>
</cp:coreProperties>
</file>